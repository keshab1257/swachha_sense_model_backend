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8" r:id="rId1"/>
  </p:sldMasterIdLst>
  <p:notesMasterIdLst>
    <p:notesMasterId r:id="rId13"/>
  </p:notesMasterIdLst>
  <p:sldIdLst>
    <p:sldId id="256" r:id="rId2"/>
    <p:sldId id="298" r:id="rId3"/>
    <p:sldId id="294" r:id="rId4"/>
    <p:sldId id="287" r:id="rId5"/>
    <p:sldId id="291" r:id="rId6"/>
    <p:sldId id="290" r:id="rId7"/>
    <p:sldId id="299" r:id="rId8"/>
    <p:sldId id="292" r:id="rId9"/>
    <p:sldId id="300" r:id="rId10"/>
    <p:sldId id="302" r:id="rId11"/>
    <p:sldId id="297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AB0028-291F-471F-B3D1-946D2B8E74ED}">
  <a:tblStyle styleId="{B4AB0028-291F-471F-B3D1-946D2B8E74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41" autoAdjust="0"/>
  </p:normalViewPr>
  <p:slideViewPr>
    <p:cSldViewPr snapToGrid="0">
      <p:cViewPr varScale="1">
        <p:scale>
          <a:sx n="104" d="100"/>
          <a:sy n="104" d="100"/>
        </p:scale>
        <p:origin x="10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A1957B-5F37-4B57-91D7-E25FC8B95F7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699D6E20-9206-4EB8-9567-2C4BFC530A37}">
      <dgm:prSet/>
      <dgm:spPr/>
      <dgm:t>
        <a:bodyPr/>
        <a:lstStyle/>
        <a:p>
          <a:pPr>
            <a:buNone/>
          </a:pPr>
          <a:r>
            <a:rPr lang="en-IN" b="0" dirty="0">
              <a:latin typeface="Times New Roman" panose="02020603050405020304" pitchFamily="18" charset="0"/>
              <a:cs typeface="Times New Roman" panose="02020603050405020304" pitchFamily="18" charset="0"/>
            </a:rPr>
            <a:t>Ideation &amp; Prototype Setup</a:t>
          </a:r>
        </a:p>
      </dgm:t>
    </dgm:pt>
    <dgm:pt modelId="{3D03D1A3-C063-4CF7-AC2C-367D5D5C57CF}" type="parTrans" cxnId="{5EA0D289-7C71-4B61-A44B-8AB0726E450C}">
      <dgm:prSet/>
      <dgm:spPr/>
      <dgm:t>
        <a:bodyPr/>
        <a:lstStyle/>
        <a:p>
          <a:endParaRPr lang="en-IN"/>
        </a:p>
      </dgm:t>
    </dgm:pt>
    <dgm:pt modelId="{679E62DF-0ACE-4684-AF50-595A14ABE0DB}" type="sibTrans" cxnId="{5EA0D289-7C71-4B61-A44B-8AB0726E450C}">
      <dgm:prSet/>
      <dgm:spPr/>
      <dgm:t>
        <a:bodyPr/>
        <a:lstStyle/>
        <a:p>
          <a:endParaRPr lang="en-IN"/>
        </a:p>
      </dgm:t>
    </dgm:pt>
    <dgm:pt modelId="{E5E0BD56-ECA8-4443-89FB-BBD17AB351D1}">
      <dgm:prSet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(Software &amp; AI Development)</a:t>
          </a:r>
        </a:p>
      </dgm:t>
    </dgm:pt>
    <dgm:pt modelId="{FC3E27C3-6514-44FB-9E11-CF510D70AB19}" type="parTrans" cxnId="{CF2B08A6-59CC-4986-9D86-4F4F4C7A971E}">
      <dgm:prSet/>
      <dgm:spPr/>
      <dgm:t>
        <a:bodyPr/>
        <a:lstStyle/>
        <a:p>
          <a:endParaRPr lang="en-IN"/>
        </a:p>
      </dgm:t>
    </dgm:pt>
    <dgm:pt modelId="{1DB830AD-28DF-4535-A1C6-AC27661CB856}" type="sibTrans" cxnId="{CF2B08A6-59CC-4986-9D86-4F4F4C7A971E}">
      <dgm:prSet/>
      <dgm:spPr/>
      <dgm:t>
        <a:bodyPr/>
        <a:lstStyle/>
        <a:p>
          <a:endParaRPr lang="en-IN"/>
        </a:p>
      </dgm:t>
    </dgm:pt>
    <dgm:pt modelId="{DA4CB24C-CE37-454C-A515-9674E5851C8B}">
      <dgm:prSet/>
      <dgm:spPr/>
      <dgm:t>
        <a:bodyPr/>
        <a:lstStyle/>
        <a:p>
          <a:pPr>
            <a:buNone/>
          </a:pPr>
          <a:r>
            <a:rPr lang="en-IN" b="0" dirty="0">
              <a:latin typeface="Times New Roman" panose="02020603050405020304" pitchFamily="18" charset="0"/>
              <a:cs typeface="Times New Roman" panose="02020603050405020304" pitchFamily="18" charset="0"/>
            </a:rPr>
            <a:t>(Pilot Deployment &amp; Validation)</a:t>
          </a:r>
        </a:p>
      </dgm:t>
    </dgm:pt>
    <dgm:pt modelId="{63D0152D-FD17-4EFA-8ED9-CEE010DAA8C2}" type="parTrans" cxnId="{E8592B5B-BEDA-4B1F-8649-C44EDB56DBEF}">
      <dgm:prSet/>
      <dgm:spPr/>
      <dgm:t>
        <a:bodyPr/>
        <a:lstStyle/>
        <a:p>
          <a:endParaRPr lang="en-IN"/>
        </a:p>
      </dgm:t>
    </dgm:pt>
    <dgm:pt modelId="{396CFB58-B1C7-473E-9933-1068CE4851CC}" type="sibTrans" cxnId="{E8592B5B-BEDA-4B1F-8649-C44EDB56DBEF}">
      <dgm:prSet/>
      <dgm:spPr/>
      <dgm:t>
        <a:bodyPr/>
        <a:lstStyle/>
        <a:p>
          <a:endParaRPr lang="en-IN"/>
        </a:p>
      </dgm:t>
    </dgm:pt>
    <dgm:pt modelId="{6A44F248-4168-4F6A-BF07-75FDC51FCCA9}">
      <dgm:prSet/>
      <dgm:spPr/>
      <dgm:t>
        <a:bodyPr/>
        <a:lstStyle/>
        <a:p>
          <a:pPr>
            <a:buNone/>
          </a:pPr>
          <a:r>
            <a:rPr lang="en-IN" b="0" dirty="0">
              <a:latin typeface="Times New Roman" panose="02020603050405020304" pitchFamily="18" charset="0"/>
              <a:cs typeface="Times New Roman" panose="02020603050405020304" pitchFamily="18" charset="0"/>
            </a:rPr>
            <a:t>(Optimization &amp; Commercial Readiness)</a:t>
          </a:r>
        </a:p>
      </dgm:t>
    </dgm:pt>
    <dgm:pt modelId="{BC8A5342-3E22-41CB-B2FE-A976F5BD2793}" type="parTrans" cxnId="{DF20C74A-ED7B-40DC-AAFF-35FBA3976191}">
      <dgm:prSet/>
      <dgm:spPr/>
      <dgm:t>
        <a:bodyPr/>
        <a:lstStyle/>
        <a:p>
          <a:endParaRPr lang="en-IN"/>
        </a:p>
      </dgm:t>
    </dgm:pt>
    <dgm:pt modelId="{1A7B610A-0D34-407E-A669-C74514233202}" type="sibTrans" cxnId="{DF20C74A-ED7B-40DC-AAFF-35FBA3976191}">
      <dgm:prSet/>
      <dgm:spPr/>
      <dgm:t>
        <a:bodyPr/>
        <a:lstStyle/>
        <a:p>
          <a:endParaRPr lang="en-IN"/>
        </a:p>
      </dgm:t>
    </dgm:pt>
    <dgm:pt modelId="{4DD8E0A0-8E0B-4BB9-A976-491D56D40EAF}" type="pres">
      <dgm:prSet presAssocID="{47A1957B-5F37-4B57-91D7-E25FC8B95F74}" presName="CompostProcess" presStyleCnt="0">
        <dgm:presLayoutVars>
          <dgm:dir/>
          <dgm:resizeHandles val="exact"/>
        </dgm:presLayoutVars>
      </dgm:prSet>
      <dgm:spPr/>
    </dgm:pt>
    <dgm:pt modelId="{E1D66B02-81B9-4670-AB93-0AA2ABCEB059}" type="pres">
      <dgm:prSet presAssocID="{47A1957B-5F37-4B57-91D7-E25FC8B95F74}" presName="arrow" presStyleLbl="bgShp" presStyleIdx="0" presStyleCnt="1"/>
      <dgm:spPr/>
    </dgm:pt>
    <dgm:pt modelId="{E89415EC-D875-47B5-ADF6-4848131CE026}" type="pres">
      <dgm:prSet presAssocID="{47A1957B-5F37-4B57-91D7-E25FC8B95F74}" presName="linearProcess" presStyleCnt="0"/>
      <dgm:spPr/>
    </dgm:pt>
    <dgm:pt modelId="{86D0DCBF-418B-4A98-A924-4760B3F9E7AA}" type="pres">
      <dgm:prSet presAssocID="{699D6E20-9206-4EB8-9567-2C4BFC530A37}" presName="textNode" presStyleLbl="node1" presStyleIdx="0" presStyleCnt="4">
        <dgm:presLayoutVars>
          <dgm:bulletEnabled val="1"/>
        </dgm:presLayoutVars>
      </dgm:prSet>
      <dgm:spPr/>
    </dgm:pt>
    <dgm:pt modelId="{013F164A-FDA8-4A1C-B663-F9416A74B7C8}" type="pres">
      <dgm:prSet presAssocID="{679E62DF-0ACE-4684-AF50-595A14ABE0DB}" presName="sibTrans" presStyleCnt="0"/>
      <dgm:spPr/>
    </dgm:pt>
    <dgm:pt modelId="{40954049-67DF-4120-9B52-8025A49001C7}" type="pres">
      <dgm:prSet presAssocID="{E5E0BD56-ECA8-4443-89FB-BBD17AB351D1}" presName="textNode" presStyleLbl="node1" presStyleIdx="1" presStyleCnt="4">
        <dgm:presLayoutVars>
          <dgm:bulletEnabled val="1"/>
        </dgm:presLayoutVars>
      </dgm:prSet>
      <dgm:spPr/>
    </dgm:pt>
    <dgm:pt modelId="{23F92A0C-7102-420E-9BD2-FAFC086789D0}" type="pres">
      <dgm:prSet presAssocID="{1DB830AD-28DF-4535-A1C6-AC27661CB856}" presName="sibTrans" presStyleCnt="0"/>
      <dgm:spPr/>
    </dgm:pt>
    <dgm:pt modelId="{13005E5B-6330-477E-B37B-CB329CD81629}" type="pres">
      <dgm:prSet presAssocID="{DA4CB24C-CE37-454C-A515-9674E5851C8B}" presName="textNode" presStyleLbl="node1" presStyleIdx="2" presStyleCnt="4">
        <dgm:presLayoutVars>
          <dgm:bulletEnabled val="1"/>
        </dgm:presLayoutVars>
      </dgm:prSet>
      <dgm:spPr/>
    </dgm:pt>
    <dgm:pt modelId="{483D486E-4483-4117-832E-3188BC4E16A6}" type="pres">
      <dgm:prSet presAssocID="{396CFB58-B1C7-473E-9933-1068CE4851CC}" presName="sibTrans" presStyleCnt="0"/>
      <dgm:spPr/>
    </dgm:pt>
    <dgm:pt modelId="{A32A3E5E-0953-4C45-ABF6-79E2E163CE17}" type="pres">
      <dgm:prSet presAssocID="{6A44F248-4168-4F6A-BF07-75FDC51FCCA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19FC7A07-5AF2-464B-82F4-4B7BB54FF28F}" type="presOf" srcId="{6A44F248-4168-4F6A-BF07-75FDC51FCCA9}" destId="{A32A3E5E-0953-4C45-ABF6-79E2E163CE17}" srcOrd="0" destOrd="0" presId="urn:microsoft.com/office/officeart/2005/8/layout/hProcess9"/>
    <dgm:cxn modelId="{E8592B5B-BEDA-4B1F-8649-C44EDB56DBEF}" srcId="{47A1957B-5F37-4B57-91D7-E25FC8B95F74}" destId="{DA4CB24C-CE37-454C-A515-9674E5851C8B}" srcOrd="2" destOrd="0" parTransId="{63D0152D-FD17-4EFA-8ED9-CEE010DAA8C2}" sibTransId="{396CFB58-B1C7-473E-9933-1068CE4851CC}"/>
    <dgm:cxn modelId="{6A399D60-D258-4833-97C1-B586024FE7B9}" type="presOf" srcId="{699D6E20-9206-4EB8-9567-2C4BFC530A37}" destId="{86D0DCBF-418B-4A98-A924-4760B3F9E7AA}" srcOrd="0" destOrd="0" presId="urn:microsoft.com/office/officeart/2005/8/layout/hProcess9"/>
    <dgm:cxn modelId="{DF20C74A-ED7B-40DC-AAFF-35FBA3976191}" srcId="{47A1957B-5F37-4B57-91D7-E25FC8B95F74}" destId="{6A44F248-4168-4F6A-BF07-75FDC51FCCA9}" srcOrd="3" destOrd="0" parTransId="{BC8A5342-3E22-41CB-B2FE-A976F5BD2793}" sibTransId="{1A7B610A-0D34-407E-A669-C74514233202}"/>
    <dgm:cxn modelId="{F9DA7C76-7883-44C9-BDD9-0A50374F50D8}" type="presOf" srcId="{47A1957B-5F37-4B57-91D7-E25FC8B95F74}" destId="{4DD8E0A0-8E0B-4BB9-A976-491D56D40EAF}" srcOrd="0" destOrd="0" presId="urn:microsoft.com/office/officeart/2005/8/layout/hProcess9"/>
    <dgm:cxn modelId="{C3FBFD81-B087-444E-848C-29AA89033A37}" type="presOf" srcId="{DA4CB24C-CE37-454C-A515-9674E5851C8B}" destId="{13005E5B-6330-477E-B37B-CB329CD81629}" srcOrd="0" destOrd="0" presId="urn:microsoft.com/office/officeart/2005/8/layout/hProcess9"/>
    <dgm:cxn modelId="{5EA0D289-7C71-4B61-A44B-8AB0726E450C}" srcId="{47A1957B-5F37-4B57-91D7-E25FC8B95F74}" destId="{699D6E20-9206-4EB8-9567-2C4BFC530A37}" srcOrd="0" destOrd="0" parTransId="{3D03D1A3-C063-4CF7-AC2C-367D5D5C57CF}" sibTransId="{679E62DF-0ACE-4684-AF50-595A14ABE0DB}"/>
    <dgm:cxn modelId="{CF2B08A6-59CC-4986-9D86-4F4F4C7A971E}" srcId="{47A1957B-5F37-4B57-91D7-E25FC8B95F74}" destId="{E5E0BD56-ECA8-4443-89FB-BBD17AB351D1}" srcOrd="1" destOrd="0" parTransId="{FC3E27C3-6514-44FB-9E11-CF510D70AB19}" sibTransId="{1DB830AD-28DF-4535-A1C6-AC27661CB856}"/>
    <dgm:cxn modelId="{B6116AF0-5D6C-4E53-841E-161E86F0273D}" type="presOf" srcId="{E5E0BD56-ECA8-4443-89FB-BBD17AB351D1}" destId="{40954049-67DF-4120-9B52-8025A49001C7}" srcOrd="0" destOrd="0" presId="urn:microsoft.com/office/officeart/2005/8/layout/hProcess9"/>
    <dgm:cxn modelId="{2D2CCFFB-BF6F-4CD3-BD09-D0278EC77BC8}" type="presParOf" srcId="{4DD8E0A0-8E0B-4BB9-A976-491D56D40EAF}" destId="{E1D66B02-81B9-4670-AB93-0AA2ABCEB059}" srcOrd="0" destOrd="0" presId="urn:microsoft.com/office/officeart/2005/8/layout/hProcess9"/>
    <dgm:cxn modelId="{B5C879C4-1F30-4044-8F2C-8415A0679D4E}" type="presParOf" srcId="{4DD8E0A0-8E0B-4BB9-A976-491D56D40EAF}" destId="{E89415EC-D875-47B5-ADF6-4848131CE026}" srcOrd="1" destOrd="0" presId="urn:microsoft.com/office/officeart/2005/8/layout/hProcess9"/>
    <dgm:cxn modelId="{6547C7C7-DC1C-4B85-9851-5CE69C203450}" type="presParOf" srcId="{E89415EC-D875-47B5-ADF6-4848131CE026}" destId="{86D0DCBF-418B-4A98-A924-4760B3F9E7AA}" srcOrd="0" destOrd="0" presId="urn:microsoft.com/office/officeart/2005/8/layout/hProcess9"/>
    <dgm:cxn modelId="{0E128C22-10A9-4B50-8AD6-DB8D658EA3E2}" type="presParOf" srcId="{E89415EC-D875-47B5-ADF6-4848131CE026}" destId="{013F164A-FDA8-4A1C-B663-F9416A74B7C8}" srcOrd="1" destOrd="0" presId="urn:microsoft.com/office/officeart/2005/8/layout/hProcess9"/>
    <dgm:cxn modelId="{D20804C3-5362-4999-9CB1-8F912432C1A2}" type="presParOf" srcId="{E89415EC-D875-47B5-ADF6-4848131CE026}" destId="{40954049-67DF-4120-9B52-8025A49001C7}" srcOrd="2" destOrd="0" presId="urn:microsoft.com/office/officeart/2005/8/layout/hProcess9"/>
    <dgm:cxn modelId="{F3D13D6A-8213-47A4-9607-28B9964974D2}" type="presParOf" srcId="{E89415EC-D875-47B5-ADF6-4848131CE026}" destId="{23F92A0C-7102-420E-9BD2-FAFC086789D0}" srcOrd="3" destOrd="0" presId="urn:microsoft.com/office/officeart/2005/8/layout/hProcess9"/>
    <dgm:cxn modelId="{FE0FE065-FF99-48F9-B4BB-08231214A3D6}" type="presParOf" srcId="{E89415EC-D875-47B5-ADF6-4848131CE026}" destId="{13005E5B-6330-477E-B37B-CB329CD81629}" srcOrd="4" destOrd="0" presId="urn:microsoft.com/office/officeart/2005/8/layout/hProcess9"/>
    <dgm:cxn modelId="{68F8AE1F-F0D3-4F51-840A-82A805490E51}" type="presParOf" srcId="{E89415EC-D875-47B5-ADF6-4848131CE026}" destId="{483D486E-4483-4117-832E-3188BC4E16A6}" srcOrd="5" destOrd="0" presId="urn:microsoft.com/office/officeart/2005/8/layout/hProcess9"/>
    <dgm:cxn modelId="{9BADEBAD-9155-4F27-93B9-1164620EC1AC}" type="presParOf" srcId="{E89415EC-D875-47B5-ADF6-4848131CE026}" destId="{A32A3E5E-0953-4C45-ABF6-79E2E163CE17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66B02-81B9-4670-AB93-0AA2ABCEB059}">
      <dsp:nvSpPr>
        <dsp:cNvPr id="0" name=""/>
        <dsp:cNvSpPr/>
      </dsp:nvSpPr>
      <dsp:spPr>
        <a:xfrm>
          <a:off x="570170" y="0"/>
          <a:ext cx="6461937" cy="326775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D0DCBF-418B-4A98-A924-4760B3F9E7AA}">
      <dsp:nvSpPr>
        <dsp:cNvPr id="0" name=""/>
        <dsp:cNvSpPr/>
      </dsp:nvSpPr>
      <dsp:spPr>
        <a:xfrm>
          <a:off x="3804" y="980326"/>
          <a:ext cx="1830040" cy="1307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Ideation &amp; Prototype Setup</a:t>
          </a:r>
        </a:p>
      </dsp:txBody>
      <dsp:txXfrm>
        <a:off x="67611" y="1044133"/>
        <a:ext cx="1702426" cy="1179487"/>
      </dsp:txXfrm>
    </dsp:sp>
    <dsp:sp modelId="{40954049-67DF-4120-9B52-8025A49001C7}">
      <dsp:nvSpPr>
        <dsp:cNvPr id="0" name=""/>
        <dsp:cNvSpPr/>
      </dsp:nvSpPr>
      <dsp:spPr>
        <a:xfrm>
          <a:off x="1925347" y="980326"/>
          <a:ext cx="1830040" cy="1307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(Software &amp; AI Development)</a:t>
          </a:r>
        </a:p>
      </dsp:txBody>
      <dsp:txXfrm>
        <a:off x="1989154" y="1044133"/>
        <a:ext cx="1702426" cy="1179487"/>
      </dsp:txXfrm>
    </dsp:sp>
    <dsp:sp modelId="{13005E5B-6330-477E-B37B-CB329CD81629}">
      <dsp:nvSpPr>
        <dsp:cNvPr id="0" name=""/>
        <dsp:cNvSpPr/>
      </dsp:nvSpPr>
      <dsp:spPr>
        <a:xfrm>
          <a:off x="3846890" y="980326"/>
          <a:ext cx="1830040" cy="1307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(Pilot Deployment &amp; Validation)</a:t>
          </a:r>
        </a:p>
      </dsp:txBody>
      <dsp:txXfrm>
        <a:off x="3910697" y="1044133"/>
        <a:ext cx="1702426" cy="1179487"/>
      </dsp:txXfrm>
    </dsp:sp>
    <dsp:sp modelId="{A32A3E5E-0953-4C45-ABF6-79E2E163CE17}">
      <dsp:nvSpPr>
        <dsp:cNvPr id="0" name=""/>
        <dsp:cNvSpPr/>
      </dsp:nvSpPr>
      <dsp:spPr>
        <a:xfrm>
          <a:off x="5768433" y="980326"/>
          <a:ext cx="1830040" cy="13071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(Optimization &amp; Commercial Readiness)</a:t>
          </a:r>
        </a:p>
      </dsp:txBody>
      <dsp:txXfrm>
        <a:off x="5832240" y="1044133"/>
        <a:ext cx="1702426" cy="1179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fd7a210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fd7a210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046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fd7a210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fd7a210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6895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fd7a210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fd7a210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874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fd7a210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fd7a210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058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fd7a210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fd7a210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0636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fd7a210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fd7a210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310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fd7a210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fd7a210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1931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fd7a2105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fd7a2105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745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081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4750737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5563" y="307045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90FAD-F1CE-43BF-9D3F-DEA01CC2E1BB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83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426A-C622-4359-9C3F-0D13096A4E95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17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0956E-5E70-4A01-9E7F-FB53C1628F74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55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8490-0C45-4611-B9CE-2C25B1BC6EAE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03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0CA8-A9B2-4DF7-B673-888746257E34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05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2877-064D-4B64-BB29-7ED27831A6C4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906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7CCC-8FE9-429E-8484-7AD46FCAD9C2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45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61A4D69C-BA77-47E8-BD7C-8A738CD85E40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50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E4BA-FDEF-49F1-B0C1-39DB4B0F00A9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29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BD79-8E19-402B-BD31-F9D90E88100F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10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01C9-8DE8-4B36-9A1F-F840427D5A12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046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942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5149" y="1698289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F8725AE9-499C-467E-B8E9-1ECFBEA1C72A}" type="datetime1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03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iletboard.org/media/38-The_Sanitation_Economy_in_India.pdf#:~:text=and%20maintenance%20of%20sanitation%20facilities,as%20part%20of%20their%20CSR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jpeg"/><Relationship Id="rId5" Type="http://schemas.openxmlformats.org/officeDocument/2006/relationships/hyperlink" Target="https://timesofindia.indiatimes.com/city/chennai/chennai-spends-rs-620-cr-on-swachh-bharat-yet-fails-to-meet-cleanliness-goals/articleshow/115461469.cms#:~:text=Advocate%20N%20Rukmangadhan%20said%20that,he%20said" TargetMode="External"/><Relationship Id="rId4" Type="http://schemas.openxmlformats.org/officeDocument/2006/relationships/hyperlink" Target="https://timesofindia.indiatimes.com/city/chennai/chennai-spends-rs-620-cr-on-swachh-bharat-yet-fails-to-meet-cleanliness-goals/articleshow/115461469.cms#:~:text=dumpyards,by%20waste%2C%20and%20taps%20broke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23CSEAIML116.KESHABSHARMA@GIET.EDU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IET University - Wikipedia">
            <a:extLst>
              <a:ext uri="{FF2B5EF4-FFF2-40B4-BE49-F238E27FC236}">
                <a16:creationId xmlns:a16="http://schemas.microsoft.com/office/drawing/2014/main" id="{D4056159-B817-122B-995A-B977B9159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960" y="0"/>
            <a:ext cx="1113800" cy="935252"/>
          </a:xfrm>
          <a:prstGeom prst="rect">
            <a:avLst/>
          </a:prstGeom>
        </p:spPr>
      </p:pic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03384" y="1826634"/>
            <a:ext cx="8128915" cy="5959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algn="ctr"/>
            <a:b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Sanitation Monitoring System for Public Washrooms</a:t>
            </a:r>
            <a:endParaRPr lang="en-IN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2583433-2181-C609-677D-65B0C108CA5F}"/>
              </a:ext>
            </a:extLst>
          </p:cNvPr>
          <p:cNvSpPr txBox="1">
            <a:spLocks/>
          </p:cNvSpPr>
          <p:nvPr/>
        </p:nvSpPr>
        <p:spPr>
          <a:xfrm>
            <a:off x="269049" y="3092353"/>
            <a:ext cx="8520600" cy="1210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SzPts val="1100"/>
            </a:pPr>
            <a:r>
              <a:rPr lang="en-US" sz="1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>
              <a:lnSpc>
                <a:spcPct val="150000"/>
              </a:lnSpc>
              <a:buSzPts val="1100"/>
            </a:pP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Presenter’s Name Keshab Sharma</a:t>
            </a:r>
            <a:b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Affiliation with the full address : GIET University Gunupur Odisha  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95A1B-8630-3209-FBCF-DA575345D564}"/>
              </a:ext>
            </a:extLst>
          </p:cNvPr>
          <p:cNvSpPr txBox="1"/>
          <p:nvPr/>
        </p:nvSpPr>
        <p:spPr>
          <a:xfrm>
            <a:off x="231690" y="96891"/>
            <a:ext cx="10599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Organized by</a:t>
            </a:r>
            <a:endParaRPr lang="en-IN" sz="105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A7BF9-6692-BF64-19A7-243FD1847B5D}"/>
              </a:ext>
            </a:extLst>
          </p:cNvPr>
          <p:cNvSpPr txBox="1"/>
          <p:nvPr/>
        </p:nvSpPr>
        <p:spPr>
          <a:xfrm>
            <a:off x="6767751" y="96891"/>
            <a:ext cx="13532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Knowledge Partners</a:t>
            </a:r>
            <a:endParaRPr lang="en-IN" sz="105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0" y="316941"/>
            <a:ext cx="2077278" cy="690205"/>
            <a:chOff x="713780" y="339431"/>
            <a:chExt cx="2077278" cy="690205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859" y="339431"/>
              <a:ext cx="1317631" cy="42922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13780" y="660304"/>
              <a:ext cx="2077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rgbClr val="4D5156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 biotech pre-incubation center of Biotechnology Industry Research Assistance Council (BIRAC), Department of Biotechnology (DBT), Government of India   </a:t>
              </a:r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209" y="316941"/>
            <a:ext cx="471371" cy="45928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66" r="3059" b="61840"/>
          <a:stretch/>
        </p:blipFill>
        <p:spPr>
          <a:xfrm>
            <a:off x="6767751" y="323431"/>
            <a:ext cx="2169318" cy="42951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81128" y="2971390"/>
            <a:ext cx="7296443" cy="24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86967">
              <a:lnSpc>
                <a:spcPct val="81000"/>
              </a:lnSpc>
              <a:spcBef>
                <a:spcPts val="900"/>
              </a:spcBef>
              <a:defRPr sz="2300"/>
            </a:pPr>
            <a:r>
              <a:rPr lang="en-US" sz="1200" spc="-38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Proposal Reference No.: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100" y="291173"/>
            <a:ext cx="932412" cy="67075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0895A1B-8630-3209-FBCF-DA575345D564}"/>
              </a:ext>
            </a:extLst>
          </p:cNvPr>
          <p:cNvSpPr txBox="1"/>
          <p:nvPr/>
        </p:nvSpPr>
        <p:spPr>
          <a:xfrm>
            <a:off x="2166102" y="60421"/>
            <a:ext cx="10599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Supported by</a:t>
            </a:r>
            <a:endParaRPr lang="en-IN" sz="1050" i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73563" y="4845010"/>
            <a:ext cx="1263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Date: 09/02/2026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2104" y="667292"/>
            <a:ext cx="747979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Applicant Profile</a:t>
            </a:r>
            <a:b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9;p14">
            <a:extLst>
              <a:ext uri="{FF2B5EF4-FFF2-40B4-BE49-F238E27FC236}">
                <a16:creationId xmlns:a16="http://schemas.microsoft.com/office/drawing/2014/main" id="{B0CF98A3-2088-A002-94DD-EB2B2B3909C7}"/>
              </a:ext>
            </a:extLst>
          </p:cNvPr>
          <p:cNvSpPr txBox="1">
            <a:spLocks/>
          </p:cNvSpPr>
          <p:nvPr/>
        </p:nvSpPr>
        <p:spPr>
          <a:xfrm>
            <a:off x="832104" y="1440180"/>
            <a:ext cx="7479792" cy="313182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Keshab Sharma  Pre Final Year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and Engineering student (AIML)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Gandhi Institute of Engineering and Technology University, Odisha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strong interest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IoT, artificial intelligence, and smart infrastructure solutions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having hands-on experience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sensor-based systems, embedded platforms, and cloud-based application development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has actively worked on technology-driven projects addressing real-world problems.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motivated to develop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privacy-preserving solutions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public infrastructure and has the technical capability to design, implement, and validate the proposed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Sanitation Monitoring System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academic mentorship. Through this fellowship, the applicant aims to translate an innovative idea into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deployable and commercially viable solution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societal impact.</a:t>
            </a:r>
          </a:p>
          <a:p>
            <a:r>
              <a:rPr lang="en-US" sz="1200" dirty="0"/>
              <a:t> </a:t>
            </a:r>
          </a:p>
          <a:p>
            <a:br>
              <a:rPr lang="en-US" sz="1200" dirty="0"/>
            </a:br>
            <a:endParaRPr lang="en-US" sz="1200" dirty="0"/>
          </a:p>
          <a:p>
            <a:endParaRPr lang="en-US" sz="1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7264" y="4845010"/>
            <a:ext cx="386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24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644727" y="231765"/>
            <a:ext cx="747979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kumimoji="0" lang="en-GB" sz="1200" b="0" i="0" u="none" strike="noStrike" kern="1200" cap="none" spc="-38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9;p14">
            <a:extLst>
              <a:ext uri="{FF2B5EF4-FFF2-40B4-BE49-F238E27FC236}">
                <a16:creationId xmlns:a16="http://schemas.microsoft.com/office/drawing/2014/main" id="{B0CF98A3-2088-A002-94DD-EB2B2B3909C7}"/>
              </a:ext>
            </a:extLst>
          </p:cNvPr>
          <p:cNvSpPr txBox="1">
            <a:spLocks/>
          </p:cNvSpPr>
          <p:nvPr/>
        </p:nvSpPr>
        <p:spPr>
          <a:xfrm>
            <a:off x="644726" y="1036230"/>
            <a:ext cx="8112537" cy="331091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sanitation infrastructure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expanded under schemes like Swachh Bharat Mission, but maintenance gaps mean many public toilets remain unusable.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Investigations reveal that without proper upkeep there is a “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gap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– facilities exist on paper but are broken or dirty in reality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toiletboard.org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Chennai spent over ₹621.5 crore on building 3,000+ public toilets, yet most lie abandoned: toilet doors are damaged, seats are covered in waste, and taps are broken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timesofindia.indiatimes.com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large maintenance contracts (rising from ~₹14 lakh to ₹6 crore per zone) failed to improve cleanliness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timesofindia.indiatimes.com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failures are often blamed on weak real-time monitoring and accountability - without sensors or performance-based tracking, authorities lack timely feedback and toilets deteriorate </a:t>
            </a:r>
            <a:endParaRPr lang="en-US" sz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7264" y="4845010"/>
            <a:ext cx="386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[2]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09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542903" y="231765"/>
            <a:ext cx="747979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  <a:r>
              <a:rPr lang="en-GB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(Concept and Technical Rationale) </a:t>
            </a:r>
            <a:endParaRPr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9;p14">
            <a:extLst>
              <a:ext uri="{FF2B5EF4-FFF2-40B4-BE49-F238E27FC236}">
                <a16:creationId xmlns:a16="http://schemas.microsoft.com/office/drawing/2014/main" id="{59B82130-1F05-C4D5-9D39-9C5DF12C539E}"/>
              </a:ext>
            </a:extLst>
          </p:cNvPr>
          <p:cNvSpPr txBox="1">
            <a:spLocks/>
          </p:cNvSpPr>
          <p:nvPr/>
        </p:nvSpPr>
        <p:spPr>
          <a:xfrm>
            <a:off x="607102" y="890691"/>
            <a:ext cx="7704794" cy="368130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an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IoT-driven sanitation monitoring system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public washrooms.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unit plugs in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bio-gas sensors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as the MQ-135 and MQ-136, which detect common malodors and harmful gases.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sensors continuously measure air quality inside a toilet cubicle.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module connects to an edge-computing node (e.g. an ESP32 or Raspberry Pi), which preprocesses the data and transmits it via Wi-Fi or cellular network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 cloud-based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dashboard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collects these data streams and applies machine learning to identify sanitation issues (e.g. detecting high odor or ammonia indicating an unclean stall).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then generates real-time alerts to facility managers or cleaning staff (e.g. via SMS/app notification) so they can respond immediately.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7264" y="4845010"/>
            <a:ext cx="386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[3]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63FF79-2702-3EAE-EF1B-B880ED0AF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10" y="3048803"/>
            <a:ext cx="2822037" cy="15961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32DB01-641E-6D4F-1CD2-56B9A0CEBB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1791" y="3148018"/>
            <a:ext cx="2920904" cy="146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7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761766" y="532712"/>
            <a:ext cx="747979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&amp; Opportunity </a:t>
            </a:r>
            <a:endParaRPr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9;p14">
            <a:extLst>
              <a:ext uri="{FF2B5EF4-FFF2-40B4-BE49-F238E27FC236}">
                <a16:creationId xmlns:a16="http://schemas.microsoft.com/office/drawing/2014/main" id="{40DC4B15-30BD-8F8D-FE4F-58A79180788F}"/>
              </a:ext>
            </a:extLst>
          </p:cNvPr>
          <p:cNvSpPr txBox="1">
            <a:spLocks/>
          </p:cNvSpPr>
          <p:nvPr/>
        </p:nvSpPr>
        <p:spPr>
          <a:xfrm>
            <a:off x="704385" y="1102893"/>
            <a:ext cx="7479792" cy="313182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smart sanitation monitoring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odor and air-quality sensors with AI instead of cameras to assess cleanliness in real time.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Proactive, data-driven maintenance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Instant alerts and analytics replace manual inspections, closing the sanitation accountability gap.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High-scale government &amp; institutional adoption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Strong fit for Smart Cities, railways, campuses, and public facilities with recurring SaaS potential.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SaaS revenue model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Hardware + subscription dashboard ensures long-term, predictable income.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7264" y="4845010"/>
            <a:ext cx="386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[4]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5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704385" y="231765"/>
            <a:ext cx="747979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landscape </a:t>
            </a:r>
            <a:endParaRPr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9;p14">
            <a:extLst>
              <a:ext uri="{FF2B5EF4-FFF2-40B4-BE49-F238E27FC236}">
                <a16:creationId xmlns:a16="http://schemas.microsoft.com/office/drawing/2014/main" id="{A80FC2AA-1E5F-8B04-EA41-34E2B7DE63EA}"/>
              </a:ext>
            </a:extLst>
          </p:cNvPr>
          <p:cNvSpPr txBox="1">
            <a:spLocks/>
          </p:cNvSpPr>
          <p:nvPr/>
        </p:nvSpPr>
        <p:spPr>
          <a:xfrm>
            <a:off x="704384" y="1036231"/>
            <a:ext cx="8052879" cy="357093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lang="en-US"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7264" y="4845010"/>
            <a:ext cx="386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[5]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F3E67C-2EC2-0167-D367-39790B348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27798"/>
              </p:ext>
            </p:extLst>
          </p:nvPr>
        </p:nvGraphicFramePr>
        <p:xfrm>
          <a:off x="605909" y="877405"/>
          <a:ext cx="7180558" cy="3788511"/>
        </p:xfrm>
        <a:graphic>
          <a:graphicData uri="http://schemas.openxmlformats.org/drawingml/2006/table">
            <a:tbl>
              <a:tblPr firstRow="1" bandRow="1">
                <a:tableStyleId>{B4AB0028-291F-471F-B3D1-946D2B8E74ED}</a:tableStyleId>
              </a:tblPr>
              <a:tblGrid>
                <a:gridCol w="1228721">
                  <a:extLst>
                    <a:ext uri="{9D8B030D-6E8A-4147-A177-3AD203B41FA5}">
                      <a16:colId xmlns:a16="http://schemas.microsoft.com/office/drawing/2014/main" val="1387348443"/>
                    </a:ext>
                  </a:extLst>
                </a:gridCol>
                <a:gridCol w="2322373">
                  <a:extLst>
                    <a:ext uri="{9D8B030D-6E8A-4147-A177-3AD203B41FA5}">
                      <a16:colId xmlns:a16="http://schemas.microsoft.com/office/drawing/2014/main" val="3695911139"/>
                    </a:ext>
                  </a:extLst>
                </a:gridCol>
                <a:gridCol w="1723292">
                  <a:extLst>
                    <a:ext uri="{9D8B030D-6E8A-4147-A177-3AD203B41FA5}">
                      <a16:colId xmlns:a16="http://schemas.microsoft.com/office/drawing/2014/main" val="452150093"/>
                    </a:ext>
                  </a:extLst>
                </a:gridCol>
                <a:gridCol w="1906172">
                  <a:extLst>
                    <a:ext uri="{9D8B030D-6E8A-4147-A177-3AD203B41FA5}">
                      <a16:colId xmlns:a16="http://schemas.microsoft.com/office/drawing/2014/main" val="2690745319"/>
                    </a:ext>
                  </a:extLst>
                </a:gridCol>
              </a:tblGrid>
              <a:tr h="271844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Approach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Solution 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524016"/>
                  </a:ext>
                </a:extLst>
              </a:tr>
              <a:tr h="87166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/ Contract-based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cleaning schedules,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inspection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paper or call-based reporting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monitoring,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 response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poor accountability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automated monitoring with instant alerts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60828"/>
                  </a:ext>
                </a:extLst>
              </a:tr>
              <a:tr h="871667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Camera-based Smart Restroom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occupancy sensors, video analytics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high cost, limited acceptance in public toilets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Privacy-first odor and air-quality sensing (no cameras)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077924"/>
                  </a:ext>
                </a:extLst>
              </a:tr>
              <a:tr h="7030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IoT Toilet Monitoring Solutions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flow, usage counters, 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occupancy sensors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measure actual cleanliness or odor conditions.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hygiene assessment using gas sensors + AI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441264"/>
                  </a:ext>
                </a:extLst>
              </a:tr>
              <a:tr h="1067792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AI-based Odor Monitoring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Gas sensors (NH₃, H₂S), IoT, edge AI, cloud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Proactive, privacy-preserving, scalable, and data-driven sanitation management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218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689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704385" y="326339"/>
            <a:ext cx="747979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 Potential </a:t>
            </a:r>
            <a:endParaRPr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7264" y="4845010"/>
            <a:ext cx="386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[6]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48D90B1A-2F04-1691-AF23-162FA772D9F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7113" y="821476"/>
            <a:ext cx="6738425" cy="172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unmet market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public sanitation due to lack of real-time monitoring.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customers: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municipalities, smart cities, railways, airports, hospitals, campuses.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policy alignment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Swachh Bharat Mission and Smart City initiatives.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business model: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low-cost hardware + recurring SaaS subscription.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deployment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cities, transport hubs, and public facilities.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design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increases acceptance and regulatory compliance.</a:t>
            </a:r>
          </a:p>
        </p:txBody>
      </p:sp>
    </p:spTree>
    <p:extLst>
      <p:ext uri="{BB962C8B-B14F-4D97-AF65-F5344CB8AC3E}">
        <p14:creationId xmlns:p14="http://schemas.microsoft.com/office/powerpoint/2010/main" val="3304242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654180" y="255798"/>
            <a:ext cx="747979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Plan </a:t>
            </a:r>
            <a:endParaRPr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9;p14">
            <a:extLst>
              <a:ext uri="{FF2B5EF4-FFF2-40B4-BE49-F238E27FC236}">
                <a16:creationId xmlns:a16="http://schemas.microsoft.com/office/drawing/2014/main" id="{6E24F064-8C1F-E99F-2392-84F5BDCF6801}"/>
              </a:ext>
            </a:extLst>
          </p:cNvPr>
          <p:cNvSpPr txBox="1">
            <a:spLocks/>
          </p:cNvSpPr>
          <p:nvPr/>
        </p:nvSpPr>
        <p:spPr>
          <a:xfrm>
            <a:off x="704385" y="840276"/>
            <a:ext cx="7479792" cy="313182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lang="en-US"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7264" y="4845010"/>
            <a:ext cx="386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[8]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03867"/>
              </p:ext>
            </p:extLst>
          </p:nvPr>
        </p:nvGraphicFramePr>
        <p:xfrm>
          <a:off x="478302" y="788668"/>
          <a:ext cx="8468751" cy="3832567"/>
        </p:xfrm>
        <a:graphic>
          <a:graphicData uri="http://schemas.openxmlformats.org/drawingml/2006/table">
            <a:tbl>
              <a:tblPr firstRow="1">
                <a:tableStyleId>{B4AB0028-291F-471F-B3D1-946D2B8E74ED}</a:tableStyleId>
              </a:tblPr>
              <a:tblGrid>
                <a:gridCol w="461636">
                  <a:extLst>
                    <a:ext uri="{9D8B030D-6E8A-4147-A177-3AD203B41FA5}">
                      <a16:colId xmlns:a16="http://schemas.microsoft.com/office/drawing/2014/main" val="1233743678"/>
                    </a:ext>
                  </a:extLst>
                </a:gridCol>
                <a:gridCol w="1198513">
                  <a:extLst>
                    <a:ext uri="{9D8B030D-6E8A-4147-A177-3AD203B41FA5}">
                      <a16:colId xmlns:a16="http://schemas.microsoft.com/office/drawing/2014/main" val="253949048"/>
                    </a:ext>
                  </a:extLst>
                </a:gridCol>
                <a:gridCol w="2571190">
                  <a:extLst>
                    <a:ext uri="{9D8B030D-6E8A-4147-A177-3AD203B41FA5}">
                      <a16:colId xmlns:a16="http://schemas.microsoft.com/office/drawing/2014/main" val="559607480"/>
                    </a:ext>
                  </a:extLst>
                </a:gridCol>
                <a:gridCol w="341867">
                  <a:extLst>
                    <a:ext uri="{9D8B030D-6E8A-4147-A177-3AD203B41FA5}">
                      <a16:colId xmlns:a16="http://schemas.microsoft.com/office/drawing/2014/main" val="3409955617"/>
                    </a:ext>
                  </a:extLst>
                </a:gridCol>
                <a:gridCol w="342406">
                  <a:extLst>
                    <a:ext uri="{9D8B030D-6E8A-4147-A177-3AD203B41FA5}">
                      <a16:colId xmlns:a16="http://schemas.microsoft.com/office/drawing/2014/main" val="467128687"/>
                    </a:ext>
                  </a:extLst>
                </a:gridCol>
                <a:gridCol w="342406">
                  <a:extLst>
                    <a:ext uri="{9D8B030D-6E8A-4147-A177-3AD203B41FA5}">
                      <a16:colId xmlns:a16="http://schemas.microsoft.com/office/drawing/2014/main" val="1273715801"/>
                    </a:ext>
                  </a:extLst>
                </a:gridCol>
                <a:gridCol w="342406">
                  <a:extLst>
                    <a:ext uri="{9D8B030D-6E8A-4147-A177-3AD203B41FA5}">
                      <a16:colId xmlns:a16="http://schemas.microsoft.com/office/drawing/2014/main" val="3177423013"/>
                    </a:ext>
                  </a:extLst>
                </a:gridCol>
                <a:gridCol w="342406">
                  <a:extLst>
                    <a:ext uri="{9D8B030D-6E8A-4147-A177-3AD203B41FA5}">
                      <a16:colId xmlns:a16="http://schemas.microsoft.com/office/drawing/2014/main" val="3052058767"/>
                    </a:ext>
                  </a:extLst>
                </a:gridCol>
                <a:gridCol w="342406">
                  <a:extLst>
                    <a:ext uri="{9D8B030D-6E8A-4147-A177-3AD203B41FA5}">
                      <a16:colId xmlns:a16="http://schemas.microsoft.com/office/drawing/2014/main" val="1845264739"/>
                    </a:ext>
                  </a:extLst>
                </a:gridCol>
                <a:gridCol w="342406">
                  <a:extLst>
                    <a:ext uri="{9D8B030D-6E8A-4147-A177-3AD203B41FA5}">
                      <a16:colId xmlns:a16="http://schemas.microsoft.com/office/drawing/2014/main" val="3304787156"/>
                    </a:ext>
                  </a:extLst>
                </a:gridCol>
                <a:gridCol w="342406">
                  <a:extLst>
                    <a:ext uri="{9D8B030D-6E8A-4147-A177-3AD203B41FA5}">
                      <a16:colId xmlns:a16="http://schemas.microsoft.com/office/drawing/2014/main" val="2038323375"/>
                    </a:ext>
                  </a:extLst>
                </a:gridCol>
                <a:gridCol w="357576">
                  <a:extLst>
                    <a:ext uri="{9D8B030D-6E8A-4147-A177-3AD203B41FA5}">
                      <a16:colId xmlns:a16="http://schemas.microsoft.com/office/drawing/2014/main" val="4158975384"/>
                    </a:ext>
                  </a:extLst>
                </a:gridCol>
                <a:gridCol w="357576">
                  <a:extLst>
                    <a:ext uri="{9D8B030D-6E8A-4147-A177-3AD203B41FA5}">
                      <a16:colId xmlns:a16="http://schemas.microsoft.com/office/drawing/2014/main" val="1183865849"/>
                    </a:ext>
                  </a:extLst>
                </a:gridCol>
                <a:gridCol w="357576">
                  <a:extLst>
                    <a:ext uri="{9D8B030D-6E8A-4147-A177-3AD203B41FA5}">
                      <a16:colId xmlns:a16="http://schemas.microsoft.com/office/drawing/2014/main" val="2037883449"/>
                    </a:ext>
                  </a:extLst>
                </a:gridCol>
                <a:gridCol w="400575">
                  <a:extLst>
                    <a:ext uri="{9D8B030D-6E8A-4147-A177-3AD203B41FA5}">
                      <a16:colId xmlns:a16="http://schemas.microsoft.com/office/drawing/2014/main" val="882146359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833370992"/>
                    </a:ext>
                  </a:extLst>
                </a:gridCol>
              </a:tblGrid>
              <a:tr h="17416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Milestones</a:t>
                      </a:r>
                      <a:endParaRPr lang="en-US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Deliverables</a:t>
                      </a:r>
                      <a:endParaRPr lang="en-US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Time (Months)</a:t>
                      </a:r>
                      <a:endParaRPr lang="en-US" sz="9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095555"/>
                  </a:ext>
                </a:extLst>
              </a:tr>
              <a:tr h="1383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0556046"/>
                  </a:ext>
                </a:extLst>
              </a:tr>
              <a:tr h="66397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 anchor="ctr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Design &amp; Prototype Development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module (MQ-135, MQ-136) integrated with microcontroller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85709559"/>
                  </a:ext>
                </a:extLst>
              </a:tr>
              <a:tr h="663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Bench-tested IoT prototype with data transmission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4337721"/>
                  </a:ext>
                </a:extLst>
              </a:tr>
              <a:tr h="198831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 anchor="ctr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Software, Cloud &amp; AI Dashboard Development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backend and database setup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5935939"/>
                  </a:ext>
                </a:extLst>
              </a:tr>
              <a:tr h="3800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Web/mobile dashboard for real-time monitoring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06888498"/>
                  </a:ext>
                </a:extLst>
              </a:tr>
              <a:tr h="1988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AI-based alert thresholds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7700786"/>
                  </a:ext>
                </a:extLst>
              </a:tr>
              <a:tr h="198831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 anchor="ctr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Pilot Deployment &amp; Field Testing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in 1–2 public washrooms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50098466"/>
                  </a:ext>
                </a:extLst>
              </a:tr>
              <a:tr h="1988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monitoring and alert system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87016433"/>
                  </a:ext>
                </a:extLst>
              </a:tr>
              <a:tr h="1988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Feedback from users and maintenance staff</a:t>
                      </a: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8848358"/>
                  </a:ext>
                </a:extLst>
              </a:tr>
              <a:tr h="198831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 anchor="ctr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Optimization &amp; Commercial Readiness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AI models and alert accuracy</a:t>
                      </a:r>
                      <a:endParaRPr lang="en-US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107528"/>
                  </a:ext>
                </a:extLst>
              </a:tr>
              <a:tr h="1988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prototype and documentation</a:t>
                      </a: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210476"/>
                  </a:ext>
                </a:extLst>
              </a:tr>
              <a:tr h="420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Commercialization and scale-up proposal</a:t>
                      </a:r>
                    </a:p>
                  </a:txBody>
                  <a:tcPr marL="14735" marR="14735" marT="14735" marB="1473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effectLst/>
                          <a:highlight>
                            <a:srgbClr val="0000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b="0" dirty="0">
                        <a:solidFill>
                          <a:schemeClr val="tx1"/>
                        </a:solidFill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9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99856525"/>
                  </a:ext>
                </a:extLst>
              </a:tr>
            </a:tbl>
          </a:graphicData>
        </a:graphic>
      </p:graphicFrame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46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597877" y="384138"/>
            <a:ext cx="747979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GB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Distribution</a:t>
            </a:r>
            <a:endParaRPr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9;p14">
            <a:extLst>
              <a:ext uri="{FF2B5EF4-FFF2-40B4-BE49-F238E27FC236}">
                <a16:creationId xmlns:a16="http://schemas.microsoft.com/office/drawing/2014/main" id="{6E24F064-8C1F-E99F-2392-84F5BDCF6801}"/>
              </a:ext>
            </a:extLst>
          </p:cNvPr>
          <p:cNvSpPr txBox="1">
            <a:spLocks/>
          </p:cNvSpPr>
          <p:nvPr/>
        </p:nvSpPr>
        <p:spPr>
          <a:xfrm>
            <a:off x="597877" y="1041009"/>
            <a:ext cx="7714019" cy="353099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lang="en-US"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4549" y="4845010"/>
            <a:ext cx="509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[9]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678713"/>
              </p:ext>
            </p:extLst>
          </p:nvPr>
        </p:nvGraphicFramePr>
        <p:xfrm>
          <a:off x="407965" y="934209"/>
          <a:ext cx="8349300" cy="37503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386">
                <a:tc>
                  <a:txBody>
                    <a:bodyPr/>
                    <a:lstStyle/>
                    <a:p>
                      <a:pPr algn="l"/>
                      <a:r>
                        <a:rPr lang="en-US" sz="1100" b="1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100" b="1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Budget Head</a:t>
                      </a:r>
                      <a:endParaRPr lang="en-IN" sz="1100" b="1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Budget Allocation (in INR) </a:t>
                      </a:r>
                      <a:r>
                        <a:rPr lang="en-US" sz="1100" b="1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</a:t>
                      </a:r>
                      <a:endParaRPr lang="en-IN" sz="1100" b="1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Justification (*)</a:t>
                      </a:r>
                      <a:endParaRPr lang="en-IN" sz="1100" b="1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732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01.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Consumables</a:t>
                      </a:r>
                      <a:endParaRPr lang="en-IN" sz="1100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₹45,000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Gas sensors (MQ-135, MQ-136), wires, PCBs, connectors, power supplies, enclosure materials, and miscellaneous electronics required for prototype development and testing.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196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02.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  <a:sym typeface="Calibri"/>
                        </a:rPr>
                        <a:t>Small Equipment's</a:t>
                      </a:r>
                      <a:endParaRPr lang="en-IN" sz="1100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₹75,000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Microcontrollers (ESP32/Raspberry Pi), GSM/Wi-Fi modules, development boards, calibration tools, and basic testing instruments for system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732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03.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Outsourcing</a:t>
                      </a:r>
                      <a:endParaRPr lang="en-IN" sz="1100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₹40,000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services, dashboard UI development support, AI model assistance, and fabrication support for enclosures if required.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04.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Travel &amp; Accommodation</a:t>
                      </a:r>
                      <a:endParaRPr lang="en-IN" sz="1100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₹25,000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visits for pilot deployment, coordination with municipal bodies, testing at public washrooms, and review meetings.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770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05.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Contingency</a:t>
                      </a:r>
                      <a:endParaRPr lang="en-IN" sz="1100" kern="1200" spc="-38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₹15,000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Buffer for unforeseen expenses such as sensor replacement, repair, logistics, or additional testing needs</a:t>
                      </a:r>
                    </a:p>
                    <a:p>
                      <a:pPr algn="l">
                        <a:buNone/>
                      </a:pP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640">
                <a:tc>
                  <a:txBody>
                    <a:bodyPr/>
                    <a:lstStyle/>
                    <a:p>
                      <a:pPr algn="l"/>
                      <a:r>
                        <a:rPr lang="en-IN" sz="1100" kern="1200" spc="-38" baseline="0" dirty="0"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kern="1200" spc="-38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₹2,00,000</a:t>
                      </a:r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IN" sz="1100" kern="1200" spc="-38" baseline="0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691839"/>
                  </a:ext>
                </a:extLst>
              </a:tr>
            </a:tbl>
          </a:graphicData>
        </a:graphic>
      </p:graphicFrame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A4F6FD-1E2F-27CE-55D5-E60BE058C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9163"/>
              </p:ext>
            </p:extLst>
          </p:nvPr>
        </p:nvGraphicFramePr>
        <p:xfrm>
          <a:off x="4276578" y="556102"/>
          <a:ext cx="492370" cy="558861"/>
        </p:xfrm>
        <a:graphic>
          <a:graphicData uri="http://schemas.openxmlformats.org/drawingml/2006/table">
            <a:tbl>
              <a:tblPr/>
              <a:tblGrid>
                <a:gridCol w="492370">
                  <a:extLst>
                    <a:ext uri="{9D8B030D-6E8A-4147-A177-3AD203B41FA5}">
                      <a16:colId xmlns:a16="http://schemas.microsoft.com/office/drawing/2014/main" val="574434753"/>
                    </a:ext>
                  </a:extLst>
                </a:gridCol>
              </a:tblGrid>
              <a:tr h="5588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204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87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roposed Solution"/>
          <p:cNvSpPr txBox="1">
            <a:spLocks noGrp="1"/>
          </p:cNvSpPr>
          <p:nvPr>
            <p:ph type="title"/>
          </p:nvPr>
        </p:nvSpPr>
        <p:spPr>
          <a:xfrm>
            <a:off x="1383421" y="520070"/>
            <a:ext cx="5662247" cy="66517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Proposed Road Map</a:t>
            </a:r>
            <a:endParaRPr sz="1200" b="1" dirty="0">
              <a:solidFill>
                <a:srgbClr val="0070C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52691" y="2799786"/>
            <a:ext cx="4736361" cy="396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IN" sz="135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(Slide contacting information about background works if any)</a:t>
            </a:r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964970"/>
              </p:ext>
            </p:extLst>
          </p:nvPr>
        </p:nvGraphicFramePr>
        <p:xfrm>
          <a:off x="850605" y="1389307"/>
          <a:ext cx="7602279" cy="3267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96342" y="2036351"/>
            <a:ext cx="100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1200" b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st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5853" y="1966633"/>
            <a:ext cx="100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1200" b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nd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 Quarter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5364" y="1934667"/>
            <a:ext cx="100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en-US" sz="1200" b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rd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0985" y="1934667"/>
            <a:ext cx="100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en-US" sz="1200" b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th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 Quarter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34549" y="4845010"/>
            <a:ext cx="509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[10]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2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570136"/>
            <a:ext cx="8520600" cy="8524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b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2583433-2181-C609-677D-65B0C108CA5F}"/>
              </a:ext>
            </a:extLst>
          </p:cNvPr>
          <p:cNvSpPr txBox="1">
            <a:spLocks/>
          </p:cNvSpPr>
          <p:nvPr/>
        </p:nvSpPr>
        <p:spPr>
          <a:xfrm>
            <a:off x="311700" y="2824776"/>
            <a:ext cx="8520600" cy="107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SzPts val="1100"/>
            </a:pP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detail:</a:t>
            </a:r>
          </a:p>
          <a:p>
            <a:pPr>
              <a:lnSpc>
                <a:spcPct val="150000"/>
              </a:lnSpc>
              <a:buSzPts val="1100"/>
            </a:pPr>
            <a:r>
              <a:rPr lang="en-US" sz="1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Keshab Sharma</a:t>
            </a:r>
            <a:br>
              <a:rPr lang="en-US" sz="1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ID: </a:t>
            </a:r>
            <a:r>
              <a:rPr lang="en-US" sz="1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23CSEAIML116.KESHABSHARMA@GIET.EDU</a:t>
            </a:r>
            <a:endParaRPr lang="en-US" sz="13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SzPts val="1100"/>
            </a:pPr>
            <a:r>
              <a:rPr lang="en-US" sz="1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Number: 6371775670</a:t>
            </a:r>
          </a:p>
        </p:txBody>
      </p:sp>
      <p:sp>
        <p:nvSpPr>
          <p:cNvPr id="6" name="Google Shape;59;p14">
            <a:extLst>
              <a:ext uri="{FF2B5EF4-FFF2-40B4-BE49-F238E27FC236}">
                <a16:creationId xmlns:a16="http://schemas.microsoft.com/office/drawing/2014/main" id="{371A0D34-86BB-CABC-D1FF-A001CEA5F917}"/>
              </a:ext>
            </a:extLst>
          </p:cNvPr>
          <p:cNvSpPr txBox="1">
            <a:spLocks/>
          </p:cNvSpPr>
          <p:nvPr/>
        </p:nvSpPr>
        <p:spPr>
          <a:xfrm>
            <a:off x="2354580" y="4148793"/>
            <a:ext cx="4434840" cy="62894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>
            <a:lvl1pPr lvl="0" algn="l" defTabSz="6858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829" y="4792742"/>
            <a:ext cx="2920904" cy="3507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1298" y="4865682"/>
            <a:ext cx="28525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BIRAC E-YUVA CALL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7287" y="4845010"/>
            <a:ext cx="536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[11]</a:t>
            </a: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E5B93624-BECF-42FC-8EED-310B63B24E29}"/>
              </a:ext>
            </a:extLst>
          </p:cNvPr>
          <p:cNvSpPr/>
          <p:nvPr/>
        </p:nvSpPr>
        <p:spPr>
          <a:xfrm>
            <a:off x="0" y="-1"/>
            <a:ext cx="9144000" cy="5143498"/>
          </a:xfrm>
          <a:prstGeom prst="roundRect">
            <a:avLst>
              <a:gd name="adj" fmla="val 3382"/>
            </a:avLst>
          </a:prstGeom>
          <a:noFill/>
          <a:ln w="63500">
            <a:solidFill>
              <a:srgbClr val="F89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>
              <a:solidFill>
                <a:srgbClr val="3333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95" y="145539"/>
            <a:ext cx="734569" cy="6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846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571</TotalTime>
  <Words>1337</Words>
  <Application>Microsoft Office PowerPoint</Application>
  <PresentationFormat>On-screen Show (16:9)</PresentationFormat>
  <Paragraphs>318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Wingdings</vt:lpstr>
      <vt:lpstr>Retrospect</vt:lpstr>
      <vt:lpstr> Smart Sanitation Monitoring System for Public Washrooms</vt:lpstr>
      <vt:lpstr>Applicant Profile </vt:lpstr>
      <vt:lpstr>Problem Statement </vt:lpstr>
      <vt:lpstr>Proposed Solution (Concept and Technical Rationale) </vt:lpstr>
      <vt:lpstr>Novelty &amp; Opportunity </vt:lpstr>
      <vt:lpstr>Competitive landscape </vt:lpstr>
      <vt:lpstr>Commercialization Potential </vt:lpstr>
      <vt:lpstr>Work Plan </vt:lpstr>
      <vt:lpstr>Budget Distribution</vt:lpstr>
      <vt:lpstr>Proposed Road Map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Advancements in management of Open Fractures of Tibia: Antibiotics-Impregnated Bone Cemented intramedullary Nail</dc:title>
  <dc:creator>E-YUVA CENTER-4</dc:creator>
  <cp:lastModifiedBy>Abhishek Thakur</cp:lastModifiedBy>
  <cp:revision>63</cp:revision>
  <dcterms:modified xsi:type="dcterms:W3CDTF">2026-02-06T17:49:10Z</dcterms:modified>
</cp:coreProperties>
</file>